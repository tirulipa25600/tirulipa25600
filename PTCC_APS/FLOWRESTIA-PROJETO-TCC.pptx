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99D99-A2D4-49DB-8D78-183708569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82698"/>
            <a:ext cx="8560858" cy="1646302"/>
          </a:xfrm>
        </p:spPr>
        <p:txBody>
          <a:bodyPr/>
          <a:lstStyle/>
          <a:p>
            <a:r>
              <a:rPr lang="pt-BR" dirty="0"/>
              <a:t>FLOWRESTIA-PROJETO-TCC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00070C-FDAD-44D2-BC56-C8889104C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7142" y="3641258"/>
            <a:ext cx="5731933" cy="1096899"/>
          </a:xfrm>
        </p:spPr>
        <p:txBody>
          <a:bodyPr>
            <a:normAutofit/>
          </a:bodyPr>
          <a:lstStyle/>
          <a:p>
            <a:r>
              <a:rPr lang="pt-BR" sz="2400" b="1" i="1" dirty="0"/>
              <a:t>&gt;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445602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3BEA0-6019-493B-9A2A-485083E9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33350"/>
            <a:ext cx="8596668" cy="2276475"/>
          </a:xfrm>
        </p:spPr>
        <p:txBody>
          <a:bodyPr/>
          <a:lstStyle/>
          <a:p>
            <a:r>
              <a:rPr lang="pt-BR" dirty="0"/>
              <a:t>FLOWRESTIA-PROJETO-TCC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614D7E-DD27-40DA-A4FF-12F1C0223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3183862"/>
            <a:ext cx="8596668" cy="157096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Curso: Desenvolvimento de Sistemas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Semestre: 2° de 2025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Metodologia: metodologias Ágeis – Scrum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Professor Orientador: Paulo Rogério Neves de Oliveira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9FBB94-14FD-4F61-95C5-6970FD1D56A3}"/>
              </a:ext>
            </a:extLst>
          </p:cNvPr>
          <p:cNvSpPr txBox="1"/>
          <p:nvPr/>
        </p:nvSpPr>
        <p:spPr>
          <a:xfrm>
            <a:off x="708154" y="1571625"/>
            <a:ext cx="4267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i="1" dirty="0"/>
              <a:t>Desenvolvimento de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D336CB-6526-4699-9C62-298622A32BEE}"/>
              </a:ext>
            </a:extLst>
          </p:cNvPr>
          <p:cNvSpPr txBox="1"/>
          <p:nvPr/>
        </p:nvSpPr>
        <p:spPr>
          <a:xfrm>
            <a:off x="7210425" y="6387584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EQUIPE_02</a:t>
            </a:r>
          </a:p>
        </p:txBody>
      </p:sp>
    </p:spTree>
    <p:extLst>
      <p:ext uri="{BB962C8B-B14F-4D97-AF65-F5344CB8AC3E}">
        <p14:creationId xmlns:p14="http://schemas.microsoft.com/office/powerpoint/2010/main" val="18282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3BEA0-6019-493B-9A2A-485083E9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33350"/>
            <a:ext cx="8596668" cy="2276475"/>
          </a:xfrm>
        </p:spPr>
        <p:txBody>
          <a:bodyPr/>
          <a:lstStyle/>
          <a:p>
            <a:r>
              <a:rPr lang="pt-BR" dirty="0"/>
              <a:t>FLOWRESTIA-PROJETO-TCC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614D7E-DD27-40DA-A4FF-12F1C0223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3471565"/>
            <a:ext cx="8596668" cy="1570962"/>
          </a:xfrm>
        </p:spPr>
        <p:txBody>
          <a:bodyPr>
            <a:noAutofit/>
          </a:bodyPr>
          <a:lstStyle/>
          <a:p>
            <a:r>
              <a:rPr lang="pt-BR" sz="2800" dirty="0"/>
              <a:t>Equipe_02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/>
              <a:t>Gabriel Andrade de Souza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/>
              <a:t>Daiane Portela Lourenço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/>
              <a:t>Andressa dos Santos Cardozo Domingues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/>
              <a:t>Franciele de Jesus Souza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/>
              <a:t>Gabriel Bernardo Marques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9FBB94-14FD-4F61-95C5-6970FD1D56A3}"/>
              </a:ext>
            </a:extLst>
          </p:cNvPr>
          <p:cNvSpPr txBox="1"/>
          <p:nvPr/>
        </p:nvSpPr>
        <p:spPr>
          <a:xfrm>
            <a:off x="708154" y="1571625"/>
            <a:ext cx="4267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i="1" dirty="0"/>
              <a:t>Desenvolvimento de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D336CB-6526-4699-9C62-298622A32BEE}"/>
              </a:ext>
            </a:extLst>
          </p:cNvPr>
          <p:cNvSpPr txBox="1"/>
          <p:nvPr/>
        </p:nvSpPr>
        <p:spPr>
          <a:xfrm>
            <a:off x="7210425" y="6387584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EQUIPE_02</a:t>
            </a:r>
          </a:p>
        </p:txBody>
      </p:sp>
    </p:spTree>
    <p:extLst>
      <p:ext uri="{BB962C8B-B14F-4D97-AF65-F5344CB8AC3E}">
        <p14:creationId xmlns:p14="http://schemas.microsoft.com/office/powerpoint/2010/main" val="3404492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3BEA0-6019-493B-9A2A-485083E9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33350"/>
            <a:ext cx="8596668" cy="2276475"/>
          </a:xfrm>
        </p:spPr>
        <p:txBody>
          <a:bodyPr/>
          <a:lstStyle/>
          <a:p>
            <a:r>
              <a:rPr lang="pt-BR" dirty="0"/>
              <a:t>FLOWRESTIA-PROJETO-TCC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614D7E-DD27-40DA-A4FF-12F1C0223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293678"/>
            <a:ext cx="5104340" cy="4324351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Problematização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Solução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Requisitos funcionais e não funcionais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Pesquisas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Público-Alvo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Esboço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Objetivos gerais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Metodologias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Ferramentas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/>
              <a:t>Soft/Hard Skills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9FBB94-14FD-4F61-95C5-6970FD1D56A3}"/>
              </a:ext>
            </a:extLst>
          </p:cNvPr>
          <p:cNvSpPr txBox="1"/>
          <p:nvPr/>
        </p:nvSpPr>
        <p:spPr>
          <a:xfrm>
            <a:off x="708154" y="1571625"/>
            <a:ext cx="4267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i="1" dirty="0"/>
              <a:t>Desenvolvimento de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D336CB-6526-4699-9C62-298622A32BEE}"/>
              </a:ext>
            </a:extLst>
          </p:cNvPr>
          <p:cNvSpPr txBox="1"/>
          <p:nvPr/>
        </p:nvSpPr>
        <p:spPr>
          <a:xfrm>
            <a:off x="7210425" y="6387584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EQUIPE_02</a:t>
            </a:r>
          </a:p>
        </p:txBody>
      </p:sp>
    </p:spTree>
    <p:extLst>
      <p:ext uri="{BB962C8B-B14F-4D97-AF65-F5344CB8AC3E}">
        <p14:creationId xmlns:p14="http://schemas.microsoft.com/office/powerpoint/2010/main" val="28604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80FC6-727D-480A-8153-5AE5BE71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596667" cy="1320800"/>
          </a:xfrm>
        </p:spPr>
        <p:txBody>
          <a:bodyPr/>
          <a:lstStyle/>
          <a:p>
            <a:r>
              <a:rPr lang="pt-BR" dirty="0"/>
              <a:t>Problematização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A5EE0-E934-49A8-8615-01FD95D4A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23975"/>
            <a:ext cx="9028641" cy="52482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contexto da educação brasileira, os estudantes do ensino médio enfrentam sérias dificuldades no desenvolvimento de competências essenciais, como leitura, escrita, raciocínio lógico e criatividade. Tais habilidades são fundamentais não apenas para o desempenho acadêmico, mas também para a formação crítica e cidadã. No entanto, dados recentes do IBGE, do INAF e do PISA revelam um cenário preocupante: milhões de jovens estão abaixo dos níveis mínimos esperados nessas áreas. Diante disso, é fundamental refletir sobre os fatores que contribuem para esse problema e discutir caminhos viáveis para sua superação.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b="1" dirty="0">
              <a:solidFill>
                <a:schemeClr val="tx1">
                  <a:lumMod val="95000"/>
                </a:schemeClr>
              </a:solidFill>
              <a:latin typeface="Trebuchet MS" panose="020B0603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os dados sobre raciocínio lógico e criatividade também são alarmantes. A avaliação do PISA 2022, realizada pela OCDE, mostrou que 54,3% dos estudantes brasileiros de 15 anos têm baixo nível de pensamento criativo, e o país ficou na 44ª posição entre 56 nações. A nota média do Brasil foi 23, bem abaixo da média da OCDE, que foi 33. Esse desempenho reflete um sistema educacional que, em geral, valoriza a memorização em detrimento</a:t>
            </a:r>
            <a:b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raciocínio autônomo e da resolução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1053799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80FC6-727D-480A-8153-5AE5BE71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85750"/>
            <a:ext cx="8596667" cy="1320800"/>
          </a:xfrm>
        </p:spPr>
        <p:txBody>
          <a:bodyPr/>
          <a:lstStyle/>
          <a:p>
            <a:r>
              <a:rPr lang="pt-BR" dirty="0"/>
              <a:t>Solução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A5EE0-E934-49A8-8615-01FD95D4A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946150"/>
            <a:ext cx="9028641" cy="59880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 err="1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oooooo</a:t>
            </a:r>
            <a:endParaRPr lang="pt-BR" b="1" dirty="0">
              <a:solidFill>
                <a:schemeClr val="tx1">
                  <a:lumMod val="95000"/>
                </a:schemeClr>
              </a:solidFill>
              <a:latin typeface="Trebuchet MS" panose="020B0603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66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80FC6-727D-480A-8153-5AE5BE71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596667" cy="1320800"/>
          </a:xfrm>
        </p:spPr>
        <p:txBody>
          <a:bodyPr/>
          <a:lstStyle/>
          <a:p>
            <a:r>
              <a:rPr lang="pt-BR" dirty="0"/>
              <a:t>Requisitos funcionais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A5EE0-E934-49A8-8615-01FD95D4A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23975"/>
            <a:ext cx="9028641" cy="52482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Realizar o login de um usuário.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Registrar um usurário.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Registrar um novo usuário.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sistema deve apresentar uma navegação simples e clara para facilitar a interação do utilizador/usuário.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sistema deve permitir a criação de um novo registro de livros.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sistema deve permitir a buscar de livros e usuários por nome ou código.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Remoção e edição.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Tela de sistema de missões.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 registro </a:t>
            </a:r>
            <a:r>
              <a:rPr lang="pt-BR" b="1">
                <a:solidFill>
                  <a:schemeClr val="tx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poema.</a:t>
            </a:r>
            <a:endParaRPr lang="pt-BR" b="1" dirty="0">
              <a:solidFill>
                <a:schemeClr val="tx1">
                  <a:lumMod val="95000"/>
                </a:schemeClr>
              </a:solidFill>
              <a:latin typeface="Trebuchet MS" panose="020B0603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0920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</TotalTime>
  <Words>373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Facetado</vt:lpstr>
      <vt:lpstr>FLOWRESTIA-PROJETO-TCC</vt:lpstr>
      <vt:lpstr>FLOWRESTIA-PROJETO-TCC</vt:lpstr>
      <vt:lpstr>FLOWRESTIA-PROJETO-TCC</vt:lpstr>
      <vt:lpstr>FLOWRESTIA-PROJETO-TCC</vt:lpstr>
      <vt:lpstr>Problematização</vt:lpstr>
      <vt:lpstr>Solução </vt:lpstr>
      <vt:lpstr>Requisitos funcionais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FLOWRESTIA-PROJETO-TCC</dc:title>
  <dc:creator>GABRIEL_5071</dc:creator>
  <cp:lastModifiedBy>DAIANE LOURENCO</cp:lastModifiedBy>
  <cp:revision>9</cp:revision>
  <dcterms:created xsi:type="dcterms:W3CDTF">2025-09-30T22:10:11Z</dcterms:created>
  <dcterms:modified xsi:type="dcterms:W3CDTF">2025-09-30T23:49:49Z</dcterms:modified>
</cp:coreProperties>
</file>